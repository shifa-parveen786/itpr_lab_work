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notesMasterIdLst>
    <p:notesMasterId r:id="rId15"/>
  </p:notesMasterIdLst>
  <p:sldIdLst>
    <p:sldId id="256" r:id="rId2"/>
    <p:sldId id="282" r:id="rId3"/>
    <p:sldId id="277" r:id="rId4"/>
    <p:sldId id="278" r:id="rId5"/>
    <p:sldId id="267" r:id="rId6"/>
    <p:sldId id="268" r:id="rId7"/>
    <p:sldId id="269" r:id="rId8"/>
    <p:sldId id="270" r:id="rId9"/>
    <p:sldId id="275" r:id="rId10"/>
    <p:sldId id="276" r:id="rId11"/>
    <p:sldId id="279" r:id="rId12"/>
    <p:sldId id="280" r:id="rId13"/>
    <p:sldId id="281" r:id="rId14"/>
  </p:sldIdLst>
  <p:sldSz cx="197993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82061A-80C0-41AA-B755-B131580A4E25}">
          <p14:sldIdLst>
            <p14:sldId id="256"/>
            <p14:sldId id="282"/>
            <p14:sldId id="277"/>
            <p14:sldId id="278"/>
            <p14:sldId id="267"/>
            <p14:sldId id="268"/>
            <p14:sldId id="269"/>
            <p14:sldId id="270"/>
            <p14:sldId id="275"/>
            <p14:sldId id="276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01">
          <p15:clr>
            <a:srgbClr val="A4A3A4"/>
          </p15:clr>
        </p15:guide>
        <p15:guide id="2" pos="62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739" y="38"/>
      </p:cViewPr>
      <p:guideLst>
        <p:guide orient="horz" pos="3401"/>
        <p:guide pos="62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i Maddheshiya" userId="7a7e641bd088730a" providerId="LiveId" clId="{0B0BA348-9D3F-40E8-876F-DFF3CEA02FB9}"/>
    <pc:docChg chg="modSld">
      <pc:chgData name="Shashi Maddheshiya" userId="7a7e641bd088730a" providerId="LiveId" clId="{0B0BA348-9D3F-40E8-876F-DFF3CEA02FB9}" dt="2025-11-28T10:47:48.019" v="1" actId="13822"/>
      <pc:docMkLst>
        <pc:docMk/>
      </pc:docMkLst>
      <pc:sldChg chg="addSp modSp mod">
        <pc:chgData name="Shashi Maddheshiya" userId="7a7e641bd088730a" providerId="LiveId" clId="{0B0BA348-9D3F-40E8-876F-DFF3CEA02FB9}" dt="2025-11-28T10:47:48.019" v="1" actId="13822"/>
        <pc:sldMkLst>
          <pc:docMk/>
          <pc:sldMk cId="3597955491" sldId="276"/>
        </pc:sldMkLst>
        <pc:cxnChg chg="add mod">
          <ac:chgData name="Shashi Maddheshiya" userId="7a7e641bd088730a" providerId="LiveId" clId="{0B0BA348-9D3F-40E8-876F-DFF3CEA02FB9}" dt="2025-11-28T10:47:48.019" v="1" actId="13822"/>
          <ac:cxnSpMkLst>
            <pc:docMk/>
            <pc:sldMk cId="3597955491" sldId="276"/>
            <ac:cxnSpMk id="17" creationId="{1AC154A5-E40D-8D04-1C5F-CDD86F22674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F0DAAC-612A-445E-98F7-E4A267C3BF52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1663" y="1143000"/>
            <a:ext cx="5654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29249-63D8-4DD1-9A5E-9B8C239321B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87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68460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1pPr>
    <a:lvl2pPr marL="734231" algn="l" defTabSz="1468460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2pPr>
    <a:lvl3pPr marL="1468460" algn="l" defTabSz="1468460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3pPr>
    <a:lvl4pPr marL="2202691" algn="l" defTabSz="1468460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4pPr>
    <a:lvl5pPr marL="2936922" algn="l" defTabSz="1468460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5pPr>
    <a:lvl6pPr marL="3671154" algn="l" defTabSz="1468460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6pPr>
    <a:lvl7pPr marL="4405385" algn="l" defTabSz="1468460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7pPr>
    <a:lvl8pPr marL="5139614" algn="l" defTabSz="1468460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8pPr>
    <a:lvl9pPr marL="5873845" algn="l" defTabSz="1468460" rtl="0" eaLnBrk="1" latinLnBrk="0" hangingPunct="1">
      <a:defRPr sz="192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4913" y="1767462"/>
            <a:ext cx="14849475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913" y="5672376"/>
            <a:ext cx="14849475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847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896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890" y="2692442"/>
            <a:ext cx="17076896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890" y="7227343"/>
            <a:ext cx="17076896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959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1202" y="2874937"/>
            <a:ext cx="8414703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3395" y="2874937"/>
            <a:ext cx="8414703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90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1" y="574988"/>
            <a:ext cx="17076896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782" y="2647443"/>
            <a:ext cx="8376031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782" y="3944914"/>
            <a:ext cx="8376031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3396" y="2647443"/>
            <a:ext cx="8417281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3396" y="3944914"/>
            <a:ext cx="8417281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28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88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22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719984"/>
            <a:ext cx="6385789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7281" y="1554966"/>
            <a:ext cx="10023396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3239929"/>
            <a:ext cx="6385789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247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719984"/>
            <a:ext cx="6385789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7281" y="1554966"/>
            <a:ext cx="10023396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3239929"/>
            <a:ext cx="6385789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614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79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8874" y="574987"/>
            <a:ext cx="4269224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1202" y="574987"/>
            <a:ext cx="1256018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16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1202" y="574988"/>
            <a:ext cx="170768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1202" y="2874937"/>
            <a:ext cx="170768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1202" y="10009781"/>
            <a:ext cx="4454843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932EF-B855-4942-8B9E-3B38F67F9765}" type="datetimeFigureOut">
              <a:rPr lang="en-IN" smtClean="0"/>
              <a:pPr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8518" y="10009781"/>
            <a:ext cx="668226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3255" y="10009781"/>
            <a:ext cx="4454843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D6C4A-8FF4-4B16-B7D3-6B41DF4D03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69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2A13-06C8-DD18-794E-981CAA7BB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8880" y="640081"/>
            <a:ext cx="13113821" cy="3328416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latin typeface="+mn-lt"/>
                <a:cs typeface="Arial" panose="020B0604020202020204" pitchFamily="34" charset="0"/>
              </a:rPr>
              <a:t>Project Proposal</a:t>
            </a:r>
            <a:br>
              <a:rPr lang="en-US" sz="6000" dirty="0">
                <a:latin typeface="+mn-lt"/>
                <a:cs typeface="Arial" panose="020B0604020202020204" pitchFamily="34" charset="0"/>
              </a:rPr>
            </a:br>
            <a:r>
              <a:rPr lang="en-US" sz="6000" dirty="0">
                <a:latin typeface="+mn-lt"/>
                <a:cs typeface="Arial" panose="020B0604020202020204" pitchFamily="34" charset="0"/>
              </a:rPr>
              <a:t>On</a:t>
            </a:r>
            <a:br>
              <a:rPr lang="en-US" sz="6000" dirty="0">
                <a:latin typeface="+mn-lt"/>
                <a:cs typeface="Arial" panose="020B0604020202020204" pitchFamily="34" charset="0"/>
              </a:rPr>
            </a:b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Student Grading System</a:t>
            </a:r>
            <a:endParaRPr lang="en-IN" sz="6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F0194-6C4D-34E6-826A-E30DFB037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8880" y="5120639"/>
            <a:ext cx="15526512" cy="5679123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          </a:t>
            </a:r>
            <a:r>
              <a:rPr lang="en-US" sz="3200" dirty="0"/>
              <a:t>  Guided By:                                                                       Created By:</a:t>
            </a:r>
          </a:p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Mr. Anuj Kumar</a:t>
            </a:r>
            <a:r>
              <a:rPr lang="en-US" sz="3200" dirty="0"/>
              <a:t>                                                      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Shashi Maddheshiya </a:t>
            </a:r>
          </a:p>
          <a:p>
            <a:pPr algn="l"/>
            <a:r>
              <a:rPr lang="en-US" sz="3200" dirty="0"/>
              <a:t>                                                                                           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AFId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3200" dirty="0"/>
              <a:t>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AF04991143</a:t>
            </a:r>
            <a:endParaRPr lang="en-US" sz="3200" dirty="0"/>
          </a:p>
          <a:p>
            <a:pPr algn="l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Shifa Parveen</a:t>
            </a:r>
          </a:p>
          <a:p>
            <a:pPr algn="l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AFId:AF04991258</a:t>
            </a:r>
          </a:p>
          <a:p>
            <a:pPr algn="l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Batch Code:ANP-D2406</a:t>
            </a:r>
          </a:p>
          <a:p>
            <a:pPr algn="l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Course </a:t>
            </a:r>
            <a:r>
              <a:rPr lang="en-IN" sz="3200" dirty="0" err="1">
                <a:latin typeface="Arial" panose="020B0604020202020204" pitchFamily="34" charset="0"/>
                <a:cs typeface="Arial" panose="020B0604020202020204" pitchFamily="34" charset="0"/>
              </a:rPr>
              <a:t>Code:ITPR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589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32016E-8A38-CD08-BF67-E0BD56BFA7E0}"/>
              </a:ext>
            </a:extLst>
          </p:cNvPr>
          <p:cNvSpPr txBox="1"/>
          <p:nvPr/>
        </p:nvSpPr>
        <p:spPr>
          <a:xfrm>
            <a:off x="2963917" y="141890"/>
            <a:ext cx="14094373" cy="9555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6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Table of Contents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1. Title of the Project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2. Introduction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3. Objective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4. Project Category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5. Analysis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Database Design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Modules and Description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ER Diagram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Data Flow Diagram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6. Complete Structure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Process Logical Diagram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7. Platform Used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Hardware Requirement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Software Requirement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8. Future Scope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9. Bibliography</a:t>
            </a:r>
          </a:p>
        </p:txBody>
      </p:sp>
    </p:spTree>
    <p:extLst>
      <p:ext uri="{BB962C8B-B14F-4D97-AF65-F5344CB8AC3E}">
        <p14:creationId xmlns:p14="http://schemas.microsoft.com/office/powerpoint/2010/main" val="4210978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83DF09-4C65-EEC7-FC3A-36F8D7387638}"/>
              </a:ext>
            </a:extLst>
          </p:cNvPr>
          <p:cNvSpPr txBox="1"/>
          <p:nvPr/>
        </p:nvSpPr>
        <p:spPr>
          <a:xfrm>
            <a:off x="1671146" y="2157450"/>
            <a:ext cx="13176423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/>
              <a:t>Introduction to Student Grading System:</a:t>
            </a:r>
            <a:endParaRPr lang="en-IN" sz="6000" dirty="0"/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Student Grading System is a faster and accurate system that stores  student data and marks 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It calculates grades automatically.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Helps teachers save time and reduce errors.</a:t>
            </a:r>
          </a:p>
          <a:p>
            <a:endParaRPr lang="en-IN" sz="2400" dirty="0"/>
          </a:p>
          <a:p>
            <a:r>
              <a:rPr lang="en-US" sz="6000" b="1" dirty="0"/>
              <a:t>Objective: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It reduce manual work.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Avoid calculation errors.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Store all student and marks data in one place.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Auto-calculate total, percentage, and grade.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 a simple and secure system.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9CCE54-B236-EC5A-53A3-436CCEF760A2}"/>
              </a:ext>
            </a:extLst>
          </p:cNvPr>
          <p:cNvSpPr txBox="1"/>
          <p:nvPr/>
        </p:nvSpPr>
        <p:spPr>
          <a:xfrm>
            <a:off x="1671146" y="126124"/>
            <a:ext cx="11098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cs typeface="Arial" panose="020B0604020202020204" pitchFamily="34" charset="0"/>
              </a:rPr>
              <a:t>Title of the Project</a:t>
            </a: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IN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5D531-3465-81CD-0760-1DDB767A06E3}"/>
              </a:ext>
            </a:extLst>
          </p:cNvPr>
          <p:cNvSpPr txBox="1"/>
          <p:nvPr/>
        </p:nvSpPr>
        <p:spPr>
          <a:xfrm>
            <a:off x="2317531" y="1141787"/>
            <a:ext cx="6574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Student Grading System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28542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8CDFEA-0E8E-5746-FC5B-B1AFF4A20F2D}"/>
              </a:ext>
            </a:extLst>
          </p:cNvPr>
          <p:cNvSpPr txBox="1"/>
          <p:nvPr/>
        </p:nvSpPr>
        <p:spPr>
          <a:xfrm>
            <a:off x="1686910" y="268015"/>
            <a:ext cx="131642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6000" b="1" dirty="0"/>
              <a:t>Project Category: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Application-Based Project using Java, JDBC, and MySQL</a:t>
            </a:r>
          </a:p>
          <a:p>
            <a:r>
              <a:rPr lang="en-IN" sz="4000" dirty="0"/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05598-6453-73B8-A7C5-9D4D26FBD86C}"/>
              </a:ext>
            </a:extLst>
          </p:cNvPr>
          <p:cNvSpPr txBox="1"/>
          <p:nvPr/>
        </p:nvSpPr>
        <p:spPr>
          <a:xfrm>
            <a:off x="1576550" y="2380594"/>
            <a:ext cx="16254249" cy="911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6000" kern="100" dirty="0"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Analysis:</a:t>
            </a:r>
            <a:endParaRPr lang="en-IN" sz="6000" kern="100" dirty="0"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Modules and Description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1. Login Management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         Handles secure login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 Authenticates admin/teacher users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 2. Student Management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Add, update, delete, view student details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3. Subject Management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    Manage subject code and subject name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 4. Marks Management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    Enter and update marks for each student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Grade Calculation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Automatically calculates total, percentage, and </a:t>
            </a:r>
            <a:r>
              <a:rPr lang="en-IN" sz="24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</a:t>
            </a:r>
            <a:endParaRPr lang="en-IN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Result Module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   Generates student’s final result (pass/fail)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99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56289" y="1147960"/>
            <a:ext cx="4907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Table 1: Student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683401"/>
              </p:ext>
            </p:extLst>
          </p:nvPr>
        </p:nvGraphicFramePr>
        <p:xfrm>
          <a:off x="838201" y="2000105"/>
          <a:ext cx="12893565" cy="36982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9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743">
                <a:tc>
                  <a:txBody>
                    <a:bodyPr/>
                    <a:lstStyle/>
                    <a:p>
                      <a:r>
                        <a:rPr lang="en-US" dirty="0"/>
                        <a:t>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Datatype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820">
                <a:tc>
                  <a:txBody>
                    <a:bodyPr/>
                    <a:lstStyle/>
                    <a:p>
                      <a:r>
                        <a:rPr lang="en-US" dirty="0" err="1"/>
                        <a:t>student_id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743">
                <a:tc>
                  <a:txBody>
                    <a:bodyPr/>
                    <a:lstStyle/>
                    <a:p>
                      <a:r>
                        <a:rPr lang="en-US" dirty="0" err="1"/>
                        <a:t>student_name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743"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743">
                <a:tc>
                  <a:txBody>
                    <a:bodyPr/>
                    <a:lstStyle/>
                    <a:p>
                      <a:r>
                        <a:rPr lang="en-US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743">
                <a:tc>
                  <a:txBody>
                    <a:bodyPr/>
                    <a:lstStyle/>
                    <a:p>
                      <a:r>
                        <a:rPr lang="en-US" dirty="0"/>
                        <a:t>dob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743">
                <a:tc>
                  <a:txBody>
                    <a:bodyPr/>
                    <a:lstStyle/>
                    <a:p>
                      <a:r>
                        <a:rPr lang="en-US" dirty="0" err="1"/>
                        <a:t>created_at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6289" y="5965753"/>
            <a:ext cx="3642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Table 2: Marks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154415"/>
              </p:ext>
            </p:extLst>
          </p:nvPr>
        </p:nvGraphicFramePr>
        <p:xfrm>
          <a:off x="838200" y="6700346"/>
          <a:ext cx="12735909" cy="36982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45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5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5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325">
                <a:tc>
                  <a:txBody>
                    <a:bodyPr/>
                    <a:lstStyle/>
                    <a:p>
                      <a:r>
                        <a:rPr lang="en-US" dirty="0"/>
                        <a:t>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Datatype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5">
                <a:tc>
                  <a:txBody>
                    <a:bodyPr/>
                    <a:lstStyle/>
                    <a:p>
                      <a:r>
                        <a:rPr lang="en-US" dirty="0" err="1"/>
                        <a:t>student_id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null, foreign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5"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5">
                <a:tc>
                  <a:txBody>
                    <a:bodyPr/>
                    <a:lstStyle/>
                    <a:p>
                      <a:r>
                        <a:rPr lang="en-US" dirty="0" err="1"/>
                        <a:t>exam_type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5">
                <a:tc>
                  <a:txBody>
                    <a:bodyPr/>
                    <a:lstStyle/>
                    <a:p>
                      <a:r>
                        <a:rPr lang="en-US" dirty="0"/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5">
                <a:tc>
                  <a:txBody>
                    <a:bodyPr/>
                    <a:lstStyle/>
                    <a:p>
                      <a:r>
                        <a:rPr lang="en-US" dirty="0" err="1"/>
                        <a:t>Max_marks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5">
                <a:tc>
                  <a:txBody>
                    <a:bodyPr/>
                    <a:lstStyle/>
                    <a:p>
                      <a:r>
                        <a:rPr lang="en-US" dirty="0" err="1"/>
                        <a:t>created_at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D1F990F-ACC0-B163-B33C-EC1FAFED3747}"/>
              </a:ext>
            </a:extLst>
          </p:cNvPr>
          <p:cNvSpPr txBox="1"/>
          <p:nvPr/>
        </p:nvSpPr>
        <p:spPr>
          <a:xfrm>
            <a:off x="838201" y="121921"/>
            <a:ext cx="14009369" cy="75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DATABASE DESIGN – Student Grading System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27101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Relation:</a:t>
            </a:r>
            <a:r>
              <a:rPr lang="en-US" b="1" dirty="0"/>
              <a:t> </a:t>
            </a:r>
          </a:p>
          <a:p>
            <a:r>
              <a:rPr lang="en-US" b="1" dirty="0"/>
              <a:t> </a:t>
            </a:r>
            <a:r>
              <a:rPr lang="en-US" sz="2800" dirty="0"/>
              <a:t>one student has many marks.</a:t>
            </a:r>
          </a:p>
          <a:p>
            <a:r>
              <a:rPr lang="en-US" sz="2800" dirty="0"/>
              <a:t>one mark belongs to one student</a:t>
            </a:r>
            <a:r>
              <a:rPr lang="en-US" dirty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2240280"/>
            <a:ext cx="384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Table 3: Grade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29641" y="3063239"/>
          <a:ext cx="11673840" cy="3733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9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lang="en-US" dirty="0"/>
                        <a:t>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Datatype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dirty="0" err="1"/>
                        <a:t>student_id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null, foreign</a:t>
                      </a:r>
                      <a:r>
                        <a:rPr lang="en-US" baseline="0" dirty="0"/>
                        <a:t> key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dirty="0" err="1"/>
                        <a:t>total_marks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dirty="0"/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dirty="0" err="1"/>
                        <a:t>created_at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9120" y="7071360"/>
            <a:ext cx="68122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Relation:</a:t>
            </a:r>
            <a:r>
              <a:rPr lang="en-US" b="1" dirty="0"/>
              <a:t> </a:t>
            </a:r>
          </a:p>
          <a:p>
            <a:r>
              <a:rPr lang="en-US" sz="2800" dirty="0"/>
              <a:t>One student has one grade only </a:t>
            </a:r>
          </a:p>
          <a:p>
            <a:r>
              <a:rPr lang="en-US" sz="2800" dirty="0"/>
              <a:t>Grade is calculated from marks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304800"/>
            <a:ext cx="4328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Table 4: Result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7721" y="1000037"/>
          <a:ext cx="12115800" cy="31409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Datatype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student_id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null, foreign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total_marks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0520" y="4312920"/>
            <a:ext cx="71932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Relation: </a:t>
            </a:r>
          </a:p>
          <a:p>
            <a:r>
              <a:rPr lang="en-US" sz="2800" dirty="0"/>
              <a:t>One student has one result only.</a:t>
            </a:r>
          </a:p>
          <a:p>
            <a:r>
              <a:rPr lang="en-US" sz="2800" dirty="0"/>
              <a:t>Result is </a:t>
            </a:r>
            <a:r>
              <a:rPr lang="en-US" sz="2800" dirty="0" err="1"/>
              <a:t>calculted</a:t>
            </a:r>
            <a:r>
              <a:rPr lang="en-US" sz="2800" dirty="0"/>
              <a:t> from 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867400"/>
            <a:ext cx="4328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Table 5: </a:t>
            </a:r>
            <a:r>
              <a:rPr lang="en-US" sz="3200" b="1" dirty="0" err="1"/>
              <a:t>User_Login</a:t>
            </a:r>
            <a:endParaRPr lang="en-US" sz="32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53439" y="6705599"/>
          <a:ext cx="12252960" cy="3368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608">
                <a:tc>
                  <a:txBody>
                    <a:bodyPr/>
                    <a:lstStyle/>
                    <a:p>
                      <a:r>
                        <a:rPr lang="en-US" dirty="0"/>
                        <a:t>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Datatype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r>
                        <a:rPr lang="en-US" dirty="0" err="1"/>
                        <a:t>user_id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key, 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r>
                        <a:rPr lang="en-US" dirty="0"/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608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520" y="381000"/>
            <a:ext cx="95859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Relation: </a:t>
            </a:r>
            <a:endParaRPr lang="en-US" sz="3200" dirty="0"/>
          </a:p>
          <a:p>
            <a:r>
              <a:rPr lang="en-US" sz="2800" dirty="0"/>
              <a:t>Login table only manages system users  </a:t>
            </a:r>
          </a:p>
          <a:p>
            <a:r>
              <a:rPr lang="en-US" sz="2800" dirty="0"/>
              <a:t>Student are not stored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080" y="1950720"/>
            <a:ext cx="6065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Table 6: Subjects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2441" y="2804159"/>
          <a:ext cx="11948160" cy="2468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82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2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r>
                        <a:rPr lang="en-US" dirty="0"/>
                        <a:t>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Datatype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dirty="0" err="1"/>
                        <a:t>subject_code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key,</a:t>
                      </a:r>
                      <a:r>
                        <a:rPr lang="en-US" baseline="0" dirty="0"/>
                        <a:t> not null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dirty="0" err="1"/>
                        <a:t>subject_name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Varchar</a:t>
                      </a:r>
                      <a:r>
                        <a:rPr lang="en-US" dirty="0"/>
                        <a:t>(200)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dirty="0" err="1"/>
                        <a:t>max_marks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6720" y="5562600"/>
            <a:ext cx="708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Relation: </a:t>
            </a:r>
          </a:p>
          <a:p>
            <a:r>
              <a:rPr lang="en-US" sz="2800" dirty="0"/>
              <a:t>One subject can have many student 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6888480"/>
            <a:ext cx="909828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Final relationship summary: </a:t>
            </a:r>
          </a:p>
          <a:p>
            <a:r>
              <a:rPr lang="en-US" sz="2400" dirty="0"/>
              <a:t>One student  </a:t>
            </a:r>
            <a:r>
              <a:rPr lang="en-US" sz="2400" dirty="0">
                <a:sym typeface="Wingdings" pitchFamily="2" charset="2"/>
              </a:rPr>
              <a:t> many marks</a:t>
            </a:r>
          </a:p>
          <a:p>
            <a:r>
              <a:rPr lang="en-US" sz="2400" dirty="0">
                <a:sym typeface="Wingdings" pitchFamily="2" charset="2"/>
              </a:rPr>
              <a:t>One student    one grade</a:t>
            </a:r>
          </a:p>
          <a:p>
            <a:r>
              <a:rPr lang="en-US" sz="2400" dirty="0">
                <a:sym typeface="Wingdings" pitchFamily="2" charset="2"/>
              </a:rPr>
              <a:t>One grade        belongs to one student</a:t>
            </a:r>
          </a:p>
          <a:p>
            <a:r>
              <a:rPr lang="en-US" sz="2400" dirty="0">
                <a:sym typeface="Wingdings" pitchFamily="2" charset="2"/>
              </a:rPr>
              <a:t>One subject     many marks</a:t>
            </a:r>
          </a:p>
          <a:p>
            <a:r>
              <a:rPr lang="en-US" sz="2400" dirty="0">
                <a:sym typeface="Wingdings" pitchFamily="2" charset="2"/>
              </a:rPr>
              <a:t>Login table independent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938A0C-641F-B460-D9A4-B2CC26CAC839}"/>
              </a:ext>
            </a:extLst>
          </p:cNvPr>
          <p:cNvSpPr/>
          <p:nvPr/>
        </p:nvSpPr>
        <p:spPr>
          <a:xfrm>
            <a:off x="3173245" y="2926080"/>
            <a:ext cx="2788920" cy="868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Student</a:t>
            </a:r>
            <a:endParaRPr lang="en-IN" sz="4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242394-F504-CF24-BBE6-BD2273D0AC90}"/>
              </a:ext>
            </a:extLst>
          </p:cNvPr>
          <p:cNvSpPr/>
          <p:nvPr/>
        </p:nvSpPr>
        <p:spPr>
          <a:xfrm>
            <a:off x="12176760" y="3009998"/>
            <a:ext cx="3002280" cy="868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/>
              <a:t>Marks</a:t>
            </a:r>
            <a:endParaRPr lang="en-IN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16BF44-C57D-24DD-721E-AF8A0749896B}"/>
              </a:ext>
            </a:extLst>
          </p:cNvPr>
          <p:cNvSpPr/>
          <p:nvPr/>
        </p:nvSpPr>
        <p:spPr>
          <a:xfrm>
            <a:off x="3154680" y="7833360"/>
            <a:ext cx="2788920" cy="8686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Grade</a:t>
            </a:r>
            <a:endParaRPr lang="en-IN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1843A0-748D-85BF-E4E5-78615A753FAB}"/>
              </a:ext>
            </a:extLst>
          </p:cNvPr>
          <p:cNvSpPr/>
          <p:nvPr/>
        </p:nvSpPr>
        <p:spPr>
          <a:xfrm>
            <a:off x="12176760" y="7833360"/>
            <a:ext cx="3002280" cy="8686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Subject</a:t>
            </a:r>
            <a:endParaRPr lang="en-IN" sz="4000" dirty="0"/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FA4D83F1-8287-B465-A276-EDC1308DF607}"/>
              </a:ext>
            </a:extLst>
          </p:cNvPr>
          <p:cNvSpPr/>
          <p:nvPr/>
        </p:nvSpPr>
        <p:spPr>
          <a:xfrm>
            <a:off x="7863841" y="2773680"/>
            <a:ext cx="2895600" cy="117348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Has</a:t>
            </a:r>
            <a:endParaRPr lang="en-IN" sz="4000" dirty="0"/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5B0BC076-BD29-75D2-3C04-FF1B85214F6D}"/>
              </a:ext>
            </a:extLst>
          </p:cNvPr>
          <p:cNvSpPr/>
          <p:nvPr/>
        </p:nvSpPr>
        <p:spPr>
          <a:xfrm>
            <a:off x="3154680" y="4754880"/>
            <a:ext cx="2529840" cy="138684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Has</a:t>
            </a:r>
            <a:endParaRPr lang="en-IN" sz="4000" dirty="0"/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C9CC1334-8724-B1F4-8587-2195A02D5375}"/>
              </a:ext>
            </a:extLst>
          </p:cNvPr>
          <p:cNvSpPr/>
          <p:nvPr/>
        </p:nvSpPr>
        <p:spPr>
          <a:xfrm>
            <a:off x="12355918" y="4566085"/>
            <a:ext cx="2650703" cy="167755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Have been by</a:t>
            </a:r>
            <a:endParaRPr lang="en-IN" sz="28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063725-5499-2671-2FAA-1A55ADF8E24E}"/>
              </a:ext>
            </a:extLst>
          </p:cNvPr>
          <p:cNvCxnSpPr>
            <a:cxnSpLocks/>
            <a:stCxn id="6" idx="1"/>
            <a:endCxn id="2" idx="3"/>
          </p:cNvCxnSpPr>
          <p:nvPr/>
        </p:nvCxnSpPr>
        <p:spPr>
          <a:xfrm flipH="1">
            <a:off x="5962165" y="3360420"/>
            <a:ext cx="19016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87F8D9-E221-ECE7-EBC7-62C55F758A13}"/>
              </a:ext>
            </a:extLst>
          </p:cNvPr>
          <p:cNvCxnSpPr>
            <a:stCxn id="6" idx="3"/>
            <a:endCxn id="3" idx="1"/>
          </p:cNvCxnSpPr>
          <p:nvPr/>
        </p:nvCxnSpPr>
        <p:spPr>
          <a:xfrm>
            <a:off x="10759441" y="3360420"/>
            <a:ext cx="1417319" cy="83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6E46886-0359-437A-4636-4085F3A59B8A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4419600" y="3794760"/>
            <a:ext cx="0" cy="96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C4549C8-A96A-8026-009A-111BF0CEE0D0}"/>
              </a:ext>
            </a:extLst>
          </p:cNvPr>
          <p:cNvCxnSpPr>
            <a:stCxn id="7" idx="2"/>
          </p:cNvCxnSpPr>
          <p:nvPr/>
        </p:nvCxnSpPr>
        <p:spPr>
          <a:xfrm>
            <a:off x="4419600" y="6141720"/>
            <a:ext cx="0" cy="1691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F81DF8-0079-4774-6440-532BF8FB80B9}"/>
              </a:ext>
            </a:extLst>
          </p:cNvPr>
          <p:cNvCxnSpPr>
            <a:cxnSpLocks/>
            <a:stCxn id="8" idx="0"/>
            <a:endCxn id="3" idx="2"/>
          </p:cNvCxnSpPr>
          <p:nvPr/>
        </p:nvCxnSpPr>
        <p:spPr>
          <a:xfrm flipH="1" flipV="1">
            <a:off x="13677900" y="3878678"/>
            <a:ext cx="3370" cy="687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53A724-B140-CF35-794F-BC16D40E7DD4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flipH="1">
            <a:off x="13677900" y="6243636"/>
            <a:ext cx="3370" cy="1589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53C036BA-2AF0-399F-C5C2-5761CCC07C43}"/>
              </a:ext>
            </a:extLst>
          </p:cNvPr>
          <p:cNvSpPr/>
          <p:nvPr/>
        </p:nvSpPr>
        <p:spPr>
          <a:xfrm>
            <a:off x="424281" y="1921249"/>
            <a:ext cx="1554480" cy="7162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Studentid</a:t>
            </a:r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FD64300-FD29-9EFF-01DB-E57B84C85229}"/>
              </a:ext>
            </a:extLst>
          </p:cNvPr>
          <p:cNvSpPr/>
          <p:nvPr/>
        </p:nvSpPr>
        <p:spPr>
          <a:xfrm>
            <a:off x="2324354" y="1439654"/>
            <a:ext cx="1554480" cy="7162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Studentname</a:t>
            </a:r>
            <a:endParaRPr lang="en-IN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AE4858-D811-55DC-26E6-B07C2EB278B0}"/>
              </a:ext>
            </a:extLst>
          </p:cNvPr>
          <p:cNvSpPr/>
          <p:nvPr/>
        </p:nvSpPr>
        <p:spPr>
          <a:xfrm>
            <a:off x="4062656" y="1485846"/>
            <a:ext cx="1554480" cy="6477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Email</a:t>
            </a:r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F71D10-8FD4-48A1-B359-8DD0E6301115}"/>
              </a:ext>
            </a:extLst>
          </p:cNvPr>
          <p:cNvSpPr/>
          <p:nvPr/>
        </p:nvSpPr>
        <p:spPr>
          <a:xfrm>
            <a:off x="602132" y="2867137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DOB</a:t>
            </a:r>
            <a:endParaRPr lang="en-IN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9807A8F-DFC2-5796-5848-6039498A3459}"/>
              </a:ext>
            </a:extLst>
          </p:cNvPr>
          <p:cNvSpPr/>
          <p:nvPr/>
        </p:nvSpPr>
        <p:spPr>
          <a:xfrm>
            <a:off x="5828940" y="1817562"/>
            <a:ext cx="1554480" cy="6019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Course</a:t>
            </a:r>
            <a:endParaRPr lang="en-IN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4604248-B2D4-5D71-81AE-E0DEAB4D521F}"/>
              </a:ext>
            </a:extLst>
          </p:cNvPr>
          <p:cNvSpPr/>
          <p:nvPr/>
        </p:nvSpPr>
        <p:spPr>
          <a:xfrm>
            <a:off x="1118697" y="3726082"/>
            <a:ext cx="155448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Createdat</a:t>
            </a:r>
            <a:endParaRPr lang="en-IN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ED9019D-8201-D9F3-8B31-982CBA0FCCE9}"/>
              </a:ext>
            </a:extLst>
          </p:cNvPr>
          <p:cNvCxnSpPr>
            <a:cxnSpLocks/>
            <a:stCxn id="28" idx="6"/>
          </p:cNvCxnSpPr>
          <p:nvPr/>
        </p:nvCxnSpPr>
        <p:spPr>
          <a:xfrm>
            <a:off x="1978761" y="2279389"/>
            <a:ext cx="1220260" cy="6343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13FDA97-9D21-7644-87D7-01CFE213C861}"/>
              </a:ext>
            </a:extLst>
          </p:cNvPr>
          <p:cNvCxnSpPr>
            <a:cxnSpLocks/>
          </p:cNvCxnSpPr>
          <p:nvPr/>
        </p:nvCxnSpPr>
        <p:spPr>
          <a:xfrm>
            <a:off x="3431357" y="2097723"/>
            <a:ext cx="473893" cy="8160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9A7338-076C-6F6D-1DED-FDA7EB3D8FFE}"/>
              </a:ext>
            </a:extLst>
          </p:cNvPr>
          <p:cNvCxnSpPr>
            <a:cxnSpLocks/>
            <a:stCxn id="30" idx="4"/>
          </p:cNvCxnSpPr>
          <p:nvPr/>
        </p:nvCxnSpPr>
        <p:spPr>
          <a:xfrm flipH="1">
            <a:off x="4315660" y="2133546"/>
            <a:ext cx="524236" cy="8022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43D8FF7-4C56-194C-6C51-36D1256EFE0C}"/>
              </a:ext>
            </a:extLst>
          </p:cNvPr>
          <p:cNvCxnSpPr>
            <a:cxnSpLocks/>
            <a:stCxn id="32" idx="3"/>
          </p:cNvCxnSpPr>
          <p:nvPr/>
        </p:nvCxnSpPr>
        <p:spPr>
          <a:xfrm flipH="1">
            <a:off x="5067202" y="2331384"/>
            <a:ext cx="989386" cy="5723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F1B83E-DA67-8A2C-1CDB-54F1BA9789D8}"/>
              </a:ext>
            </a:extLst>
          </p:cNvPr>
          <p:cNvCxnSpPr>
            <a:cxnSpLocks/>
            <a:stCxn id="31" idx="6"/>
          </p:cNvCxnSpPr>
          <p:nvPr/>
        </p:nvCxnSpPr>
        <p:spPr>
          <a:xfrm flipV="1">
            <a:off x="2156612" y="3170018"/>
            <a:ext cx="1016632" cy="498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C41914-8F06-5378-6856-E661D08B40AC}"/>
              </a:ext>
            </a:extLst>
          </p:cNvPr>
          <p:cNvCxnSpPr>
            <a:stCxn id="33" idx="6"/>
            <a:endCxn id="2" idx="1"/>
          </p:cNvCxnSpPr>
          <p:nvPr/>
        </p:nvCxnSpPr>
        <p:spPr>
          <a:xfrm flipV="1">
            <a:off x="2673177" y="3360420"/>
            <a:ext cx="500068" cy="6323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98AC4068-09C2-0887-1AB8-8C7C65103776}"/>
              </a:ext>
            </a:extLst>
          </p:cNvPr>
          <p:cNvSpPr/>
          <p:nvPr/>
        </p:nvSpPr>
        <p:spPr>
          <a:xfrm>
            <a:off x="13243401" y="1389035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studentid</a:t>
            </a:r>
            <a:endParaRPr lang="en-IN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0DFA252-FCE9-0EDB-0753-4C360CE92229}"/>
              </a:ext>
            </a:extLst>
          </p:cNvPr>
          <p:cNvSpPr/>
          <p:nvPr/>
        </p:nvSpPr>
        <p:spPr>
          <a:xfrm>
            <a:off x="15002630" y="1358380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subject</a:t>
            </a:r>
            <a:endParaRPr lang="en-IN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354C75C-B479-68BC-7895-8A7FC1D6745D}"/>
              </a:ext>
            </a:extLst>
          </p:cNvPr>
          <p:cNvSpPr/>
          <p:nvPr/>
        </p:nvSpPr>
        <p:spPr>
          <a:xfrm>
            <a:off x="16322041" y="1888552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marks</a:t>
            </a:r>
            <a:endParaRPr lang="en-IN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96AF39E-7D7D-EC2E-4EA5-5DEC726A1F48}"/>
              </a:ext>
            </a:extLst>
          </p:cNvPr>
          <p:cNvSpPr/>
          <p:nvPr/>
        </p:nvSpPr>
        <p:spPr>
          <a:xfrm>
            <a:off x="16871634" y="2685816"/>
            <a:ext cx="1551622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examtype</a:t>
            </a:r>
            <a:endParaRPr lang="en-IN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70DC058-4059-5053-F587-11EDE33EE0F7}"/>
              </a:ext>
            </a:extLst>
          </p:cNvPr>
          <p:cNvSpPr/>
          <p:nvPr/>
        </p:nvSpPr>
        <p:spPr>
          <a:xfrm>
            <a:off x="16554139" y="3640093"/>
            <a:ext cx="1724971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Created at</a:t>
            </a:r>
            <a:endParaRPr lang="en-IN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4815D80-EEB1-6DEF-9E8F-F02D61D021D7}"/>
              </a:ext>
            </a:extLst>
          </p:cNvPr>
          <p:cNvSpPr/>
          <p:nvPr/>
        </p:nvSpPr>
        <p:spPr>
          <a:xfrm>
            <a:off x="11571726" y="1730425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markid</a:t>
            </a:r>
            <a:endParaRPr lang="en-IN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2AF0835-6EC8-9F38-CA2A-F9360852784D}"/>
              </a:ext>
            </a:extLst>
          </p:cNvPr>
          <p:cNvCxnSpPr/>
          <p:nvPr/>
        </p:nvCxnSpPr>
        <p:spPr>
          <a:xfrm>
            <a:off x="12843363" y="2376484"/>
            <a:ext cx="526256" cy="6177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7BB464B-860D-0435-84D4-12B6160D32F5}"/>
              </a:ext>
            </a:extLst>
          </p:cNvPr>
          <p:cNvCxnSpPr>
            <a:cxnSpLocks/>
          </p:cNvCxnSpPr>
          <p:nvPr/>
        </p:nvCxnSpPr>
        <p:spPr>
          <a:xfrm flipH="1">
            <a:off x="13675798" y="2133546"/>
            <a:ext cx="612360" cy="8896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0BE9A2-01CC-1C03-D9F1-DA42CA5BCDFC}"/>
              </a:ext>
            </a:extLst>
          </p:cNvPr>
          <p:cNvCxnSpPr>
            <a:cxnSpLocks/>
          </p:cNvCxnSpPr>
          <p:nvPr/>
        </p:nvCxnSpPr>
        <p:spPr>
          <a:xfrm flipH="1">
            <a:off x="14288158" y="2097723"/>
            <a:ext cx="1105731" cy="8807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8D622BC-E62F-2898-B10A-B3988C75DD83}"/>
              </a:ext>
            </a:extLst>
          </p:cNvPr>
          <p:cNvCxnSpPr>
            <a:cxnSpLocks/>
            <a:stCxn id="52" idx="3"/>
          </p:cNvCxnSpPr>
          <p:nvPr/>
        </p:nvCxnSpPr>
        <p:spPr>
          <a:xfrm flipH="1">
            <a:off x="15188556" y="2490630"/>
            <a:ext cx="1361133" cy="689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C7116B7-A033-82F6-06D4-BE843DFAF6CB}"/>
              </a:ext>
            </a:extLst>
          </p:cNvPr>
          <p:cNvCxnSpPr>
            <a:cxnSpLocks/>
            <a:stCxn id="53" idx="3"/>
            <a:endCxn id="3" idx="3"/>
          </p:cNvCxnSpPr>
          <p:nvPr/>
        </p:nvCxnSpPr>
        <p:spPr>
          <a:xfrm flipH="1">
            <a:off x="15179040" y="3287894"/>
            <a:ext cx="1919824" cy="1564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1E9E259-90A4-2AE8-F4BA-6B736AFBE0B5}"/>
              </a:ext>
            </a:extLst>
          </p:cNvPr>
          <p:cNvCxnSpPr>
            <a:cxnSpLocks/>
          </p:cNvCxnSpPr>
          <p:nvPr/>
        </p:nvCxnSpPr>
        <p:spPr>
          <a:xfrm flipH="1" flipV="1">
            <a:off x="15177726" y="3640093"/>
            <a:ext cx="1434596" cy="2385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6F59AE93-3F40-8272-EE2C-5F081C55FE71}"/>
              </a:ext>
            </a:extLst>
          </p:cNvPr>
          <p:cNvSpPr/>
          <p:nvPr/>
        </p:nvSpPr>
        <p:spPr>
          <a:xfrm>
            <a:off x="670560" y="7562322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gradeid</a:t>
            </a:r>
            <a:endParaRPr lang="en-IN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00CC7A8-DF46-472B-7C56-0FB8746DC60A}"/>
              </a:ext>
            </a:extLst>
          </p:cNvPr>
          <p:cNvSpPr/>
          <p:nvPr/>
        </p:nvSpPr>
        <p:spPr>
          <a:xfrm>
            <a:off x="762000" y="8579353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studentid</a:t>
            </a:r>
            <a:endParaRPr lang="en-IN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3AB386D-9AF1-5A6C-5183-1004A3464DF8}"/>
              </a:ext>
            </a:extLst>
          </p:cNvPr>
          <p:cNvSpPr/>
          <p:nvPr/>
        </p:nvSpPr>
        <p:spPr>
          <a:xfrm>
            <a:off x="1813560" y="9560985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marks</a:t>
            </a:r>
            <a:endParaRPr lang="en-IN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6C6F937A-8261-7B90-C653-8330B13BF3AE}"/>
              </a:ext>
            </a:extLst>
          </p:cNvPr>
          <p:cNvSpPr/>
          <p:nvPr/>
        </p:nvSpPr>
        <p:spPr>
          <a:xfrm>
            <a:off x="3611880" y="9913674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percentage</a:t>
            </a:r>
            <a:endParaRPr lang="en-IN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D421FEA-D7AA-41AB-0932-21247F5C9522}"/>
              </a:ext>
            </a:extLst>
          </p:cNvPr>
          <p:cNvSpPr/>
          <p:nvPr/>
        </p:nvSpPr>
        <p:spPr>
          <a:xfrm>
            <a:off x="5410200" y="9925924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grade</a:t>
            </a:r>
            <a:endParaRPr lang="en-IN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02A49B6-E01D-8D16-1131-6AB03CC36359}"/>
              </a:ext>
            </a:extLst>
          </p:cNvPr>
          <p:cNvSpPr/>
          <p:nvPr/>
        </p:nvSpPr>
        <p:spPr>
          <a:xfrm>
            <a:off x="6614160" y="8961293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Created at</a:t>
            </a:r>
            <a:endParaRPr lang="en-IN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C6A20B2-2AE7-C73B-53C4-3C97EA30BB53}"/>
              </a:ext>
            </a:extLst>
          </p:cNvPr>
          <p:cNvCxnSpPr>
            <a:stCxn id="68" idx="6"/>
          </p:cNvCxnSpPr>
          <p:nvPr/>
        </p:nvCxnSpPr>
        <p:spPr>
          <a:xfrm>
            <a:off x="2225040" y="7915011"/>
            <a:ext cx="929640" cy="497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F3E9A5E-94BD-05E0-4C58-C10CB3E3AA1B}"/>
              </a:ext>
            </a:extLst>
          </p:cNvPr>
          <p:cNvCxnSpPr/>
          <p:nvPr/>
        </p:nvCxnSpPr>
        <p:spPr>
          <a:xfrm flipV="1">
            <a:off x="2316480" y="8579353"/>
            <a:ext cx="944880" cy="1226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5CCD2A7-9898-F128-3830-318A1DBF984F}"/>
              </a:ext>
            </a:extLst>
          </p:cNvPr>
          <p:cNvCxnSpPr>
            <a:stCxn id="70" idx="0"/>
          </p:cNvCxnSpPr>
          <p:nvPr/>
        </p:nvCxnSpPr>
        <p:spPr>
          <a:xfrm flipV="1">
            <a:off x="2590800" y="8702040"/>
            <a:ext cx="1104900" cy="8589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F2E0AF8-3C78-1B89-3E80-E2D3EE2CC450}"/>
              </a:ext>
            </a:extLst>
          </p:cNvPr>
          <p:cNvCxnSpPr>
            <a:stCxn id="71" idx="0"/>
          </p:cNvCxnSpPr>
          <p:nvPr/>
        </p:nvCxnSpPr>
        <p:spPr>
          <a:xfrm flipH="1" flipV="1">
            <a:off x="4267200" y="8702040"/>
            <a:ext cx="121920" cy="1211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2F34EC-9C97-C641-83E4-00FE622A7C90}"/>
              </a:ext>
            </a:extLst>
          </p:cNvPr>
          <p:cNvCxnSpPr>
            <a:cxnSpLocks/>
          </p:cNvCxnSpPr>
          <p:nvPr/>
        </p:nvCxnSpPr>
        <p:spPr>
          <a:xfrm flipH="1" flipV="1">
            <a:off x="5013960" y="8640696"/>
            <a:ext cx="807720" cy="12852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38A7059-AFAD-3BB8-1BC1-31AB84E07E02}"/>
              </a:ext>
            </a:extLst>
          </p:cNvPr>
          <p:cNvCxnSpPr>
            <a:stCxn id="73" idx="1"/>
          </p:cNvCxnSpPr>
          <p:nvPr/>
        </p:nvCxnSpPr>
        <p:spPr>
          <a:xfrm flipH="1" flipV="1">
            <a:off x="5821680" y="8702040"/>
            <a:ext cx="1020128" cy="3625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08F28439-6A16-78AA-2ACA-87FC2996A74E}"/>
              </a:ext>
            </a:extLst>
          </p:cNvPr>
          <p:cNvSpPr/>
          <p:nvPr/>
        </p:nvSpPr>
        <p:spPr>
          <a:xfrm>
            <a:off x="10595848" y="9573235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fields</a:t>
            </a:r>
            <a:endParaRPr lang="en-IN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6566B44-185C-120B-61BD-C4369816A539}"/>
              </a:ext>
            </a:extLst>
          </p:cNvPr>
          <p:cNvSpPr/>
          <p:nvPr/>
        </p:nvSpPr>
        <p:spPr>
          <a:xfrm>
            <a:off x="12785090" y="9748203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subjectid</a:t>
            </a:r>
            <a:endParaRPr lang="en-IN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D268659-CB38-C2E2-347D-1664E82D8369}"/>
              </a:ext>
            </a:extLst>
          </p:cNvPr>
          <p:cNvSpPr/>
          <p:nvPr/>
        </p:nvSpPr>
        <p:spPr>
          <a:xfrm>
            <a:off x="14754860" y="9772704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subjectname</a:t>
            </a:r>
            <a:endParaRPr lang="en-IN" dirty="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387D700-A7EB-6D5E-F6C3-4CD616AB8CAA}"/>
              </a:ext>
            </a:extLst>
          </p:cNvPr>
          <p:cNvSpPr/>
          <p:nvPr/>
        </p:nvSpPr>
        <p:spPr>
          <a:xfrm>
            <a:off x="16724630" y="9395514"/>
            <a:ext cx="1554480" cy="7053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maxmarks</a:t>
            </a:r>
            <a:endParaRPr lang="en-IN" dirty="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015E105-F75A-21F0-5BC4-C8BF7E3D62C5}"/>
              </a:ext>
            </a:extLst>
          </p:cNvPr>
          <p:cNvCxnSpPr/>
          <p:nvPr/>
        </p:nvCxnSpPr>
        <p:spPr>
          <a:xfrm flipV="1">
            <a:off x="11582400" y="8702040"/>
            <a:ext cx="907256" cy="8711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00CB258-6536-58AE-F406-FC6AFE671A81}"/>
              </a:ext>
            </a:extLst>
          </p:cNvPr>
          <p:cNvCxnSpPr/>
          <p:nvPr/>
        </p:nvCxnSpPr>
        <p:spPr>
          <a:xfrm flipH="1" flipV="1">
            <a:off x="13134341" y="8702040"/>
            <a:ext cx="185419" cy="10461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F020D78-1DE2-13CC-C469-6D1EFBDC3E4F}"/>
              </a:ext>
            </a:extLst>
          </p:cNvPr>
          <p:cNvCxnSpPr/>
          <p:nvPr/>
        </p:nvCxnSpPr>
        <p:spPr>
          <a:xfrm flipH="1" flipV="1">
            <a:off x="14339570" y="8702040"/>
            <a:ext cx="916622" cy="10461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B752D16-90CF-EA50-EA6B-EA7C20E5AFCA}"/>
              </a:ext>
            </a:extLst>
          </p:cNvPr>
          <p:cNvCxnSpPr>
            <a:cxnSpLocks/>
          </p:cNvCxnSpPr>
          <p:nvPr/>
        </p:nvCxnSpPr>
        <p:spPr>
          <a:xfrm flipH="1" flipV="1">
            <a:off x="15179040" y="8702040"/>
            <a:ext cx="167640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7F1808F-FF7A-100E-E0C9-7AF6635ED20B}"/>
              </a:ext>
            </a:extLst>
          </p:cNvPr>
          <p:cNvSpPr txBox="1"/>
          <p:nvPr/>
        </p:nvSpPr>
        <p:spPr>
          <a:xfrm>
            <a:off x="914400" y="70553"/>
            <a:ext cx="10525584" cy="100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 Diagram: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15BF41-DB84-EB96-DB15-CADA89A5D51C}"/>
              </a:ext>
            </a:extLst>
          </p:cNvPr>
          <p:cNvSpPr txBox="1"/>
          <p:nvPr/>
        </p:nvSpPr>
        <p:spPr>
          <a:xfrm>
            <a:off x="6370320" y="3023183"/>
            <a:ext cx="387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09858F-79EE-B940-36CA-1FC92EE69F67}"/>
              </a:ext>
            </a:extLst>
          </p:cNvPr>
          <p:cNvSpPr txBox="1"/>
          <p:nvPr/>
        </p:nvSpPr>
        <p:spPr>
          <a:xfrm>
            <a:off x="11439984" y="3023183"/>
            <a:ext cx="414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47272B-8542-F69F-F59E-2FFD317FE6A5}"/>
              </a:ext>
            </a:extLst>
          </p:cNvPr>
          <p:cNvSpPr txBox="1"/>
          <p:nvPr/>
        </p:nvSpPr>
        <p:spPr>
          <a:xfrm>
            <a:off x="4839896" y="43454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DEADC6-7232-9916-7ECF-DA361F859427}"/>
              </a:ext>
            </a:extLst>
          </p:cNvPr>
          <p:cNvSpPr txBox="1"/>
          <p:nvPr/>
        </p:nvSpPr>
        <p:spPr>
          <a:xfrm>
            <a:off x="4632960" y="6614160"/>
            <a:ext cx="380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2DD872-0B35-44FE-23A8-680EED5315BD}"/>
              </a:ext>
            </a:extLst>
          </p:cNvPr>
          <p:cNvSpPr txBox="1"/>
          <p:nvPr/>
        </p:nvSpPr>
        <p:spPr>
          <a:xfrm>
            <a:off x="13353780" y="4222736"/>
            <a:ext cx="64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3DC82-E612-8C2D-6AFD-7853A95C33BF}"/>
              </a:ext>
            </a:extLst>
          </p:cNvPr>
          <p:cNvSpPr txBox="1"/>
          <p:nvPr/>
        </p:nvSpPr>
        <p:spPr>
          <a:xfrm>
            <a:off x="13562330" y="70637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65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3E1090-74CC-5F98-A052-03822AC25CDC}"/>
              </a:ext>
            </a:extLst>
          </p:cNvPr>
          <p:cNvSpPr txBox="1"/>
          <p:nvPr/>
        </p:nvSpPr>
        <p:spPr>
          <a:xfrm>
            <a:off x="1615440" y="487680"/>
            <a:ext cx="8519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Data Flow Diagram</a:t>
            </a:r>
            <a:endParaRPr lang="en-IN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56AE1-4680-57C8-D688-D7C13D0018D4}"/>
              </a:ext>
            </a:extLst>
          </p:cNvPr>
          <p:cNvSpPr txBox="1"/>
          <p:nvPr/>
        </p:nvSpPr>
        <p:spPr>
          <a:xfrm>
            <a:off x="1302231" y="1688291"/>
            <a:ext cx="4023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Zero Level DFD</a:t>
            </a:r>
            <a:endParaRPr lang="en-IN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26D017-4277-060C-A356-6E392E52F949}"/>
              </a:ext>
            </a:extLst>
          </p:cNvPr>
          <p:cNvSpPr/>
          <p:nvPr/>
        </p:nvSpPr>
        <p:spPr>
          <a:xfrm>
            <a:off x="5257800" y="2136725"/>
            <a:ext cx="301752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Admin</a:t>
            </a:r>
            <a:endParaRPr lang="en-IN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97832-6AA6-00E9-3BF5-05E1BFB3D38D}"/>
              </a:ext>
            </a:extLst>
          </p:cNvPr>
          <p:cNvSpPr/>
          <p:nvPr/>
        </p:nvSpPr>
        <p:spPr>
          <a:xfrm>
            <a:off x="14330854" y="2096438"/>
            <a:ext cx="313944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Student</a:t>
            </a:r>
            <a:endParaRPr lang="en-IN" sz="4000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0C5A432-7B79-7C7A-84A2-0BA1FD5BC9E0}"/>
              </a:ext>
            </a:extLst>
          </p:cNvPr>
          <p:cNvSpPr/>
          <p:nvPr/>
        </p:nvSpPr>
        <p:spPr>
          <a:xfrm>
            <a:off x="10158248" y="1597985"/>
            <a:ext cx="2086303" cy="202067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Student</a:t>
            </a:r>
          </a:p>
          <a:p>
            <a:pPr algn="ctr"/>
            <a:r>
              <a:rPr lang="en-US" sz="2800" dirty="0"/>
              <a:t>Grading </a:t>
            </a:r>
          </a:p>
          <a:p>
            <a:pPr algn="ctr"/>
            <a:r>
              <a:rPr lang="en-US" sz="2800" dirty="0"/>
              <a:t>System</a:t>
            </a:r>
            <a:endParaRPr lang="en-IN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476F93-CE5D-036B-A16D-D44D0780ADAB}"/>
              </a:ext>
            </a:extLst>
          </p:cNvPr>
          <p:cNvCxnSpPr>
            <a:cxnSpLocks/>
          </p:cNvCxnSpPr>
          <p:nvPr/>
        </p:nvCxnSpPr>
        <p:spPr>
          <a:xfrm>
            <a:off x="8275320" y="2459891"/>
            <a:ext cx="1859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720D74-71B7-5A89-0C80-49A86D11E26F}"/>
              </a:ext>
            </a:extLst>
          </p:cNvPr>
          <p:cNvCxnSpPr>
            <a:cxnSpLocks/>
          </p:cNvCxnSpPr>
          <p:nvPr/>
        </p:nvCxnSpPr>
        <p:spPr>
          <a:xfrm flipH="1">
            <a:off x="8275320" y="2746879"/>
            <a:ext cx="1882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27ACF5-4158-DCEF-1429-481B39C1C918}"/>
              </a:ext>
            </a:extLst>
          </p:cNvPr>
          <p:cNvCxnSpPr>
            <a:cxnSpLocks/>
          </p:cNvCxnSpPr>
          <p:nvPr/>
        </p:nvCxnSpPr>
        <p:spPr>
          <a:xfrm flipH="1">
            <a:off x="12244551" y="2368781"/>
            <a:ext cx="20863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43A41A-1111-8F58-847E-359F019B7635}"/>
              </a:ext>
            </a:extLst>
          </p:cNvPr>
          <p:cNvCxnSpPr>
            <a:cxnSpLocks/>
          </p:cNvCxnSpPr>
          <p:nvPr/>
        </p:nvCxnSpPr>
        <p:spPr>
          <a:xfrm>
            <a:off x="12236668" y="2746879"/>
            <a:ext cx="20941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549EB6-E5D5-E917-B57D-4E71CAFEA746}"/>
              </a:ext>
            </a:extLst>
          </p:cNvPr>
          <p:cNvSpPr txBox="1"/>
          <p:nvPr/>
        </p:nvSpPr>
        <p:spPr>
          <a:xfrm>
            <a:off x="1234440" y="4398234"/>
            <a:ext cx="4023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First Level DFD</a:t>
            </a:r>
            <a:endParaRPr lang="en-IN" sz="3600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BCEDB868-EE39-7D65-4FE1-BE24613CF8DA}"/>
              </a:ext>
            </a:extLst>
          </p:cNvPr>
          <p:cNvSpPr/>
          <p:nvPr/>
        </p:nvSpPr>
        <p:spPr>
          <a:xfrm>
            <a:off x="10368235" y="4639567"/>
            <a:ext cx="2086303" cy="1148818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Subject</a:t>
            </a:r>
            <a:endParaRPr lang="en-IN" sz="2800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9F1BD988-5B65-C45F-86F7-1D0F36322B6C}"/>
              </a:ext>
            </a:extLst>
          </p:cNvPr>
          <p:cNvSpPr/>
          <p:nvPr/>
        </p:nvSpPr>
        <p:spPr>
          <a:xfrm>
            <a:off x="10486388" y="6085751"/>
            <a:ext cx="1893572" cy="1214209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Marks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2BB7862C-1ABA-C733-7878-CE06B0824392}"/>
              </a:ext>
            </a:extLst>
          </p:cNvPr>
          <p:cNvSpPr/>
          <p:nvPr/>
        </p:nvSpPr>
        <p:spPr>
          <a:xfrm>
            <a:off x="10442815" y="7551218"/>
            <a:ext cx="1937145" cy="1214209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Grades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537A3DE6-38A7-D026-D72E-8F98E8CB4607}"/>
              </a:ext>
            </a:extLst>
          </p:cNvPr>
          <p:cNvSpPr/>
          <p:nvPr/>
        </p:nvSpPr>
        <p:spPr>
          <a:xfrm>
            <a:off x="10604500" y="9016685"/>
            <a:ext cx="1775460" cy="126199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33B354F9-8DAE-7333-0719-DCAE23D29343}"/>
              </a:ext>
            </a:extLst>
          </p:cNvPr>
          <p:cNvSpPr/>
          <p:nvPr/>
        </p:nvSpPr>
        <p:spPr>
          <a:xfrm>
            <a:off x="7299788" y="7058715"/>
            <a:ext cx="1701801" cy="1214209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Login</a:t>
            </a:r>
            <a:endParaRPr lang="en-IN" sz="3200" dirty="0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A43EB6B1-DC14-C4B7-4EFC-88A36774794D}"/>
              </a:ext>
            </a:extLst>
          </p:cNvPr>
          <p:cNvSpPr/>
          <p:nvPr/>
        </p:nvSpPr>
        <p:spPr>
          <a:xfrm>
            <a:off x="13961624" y="7008731"/>
            <a:ext cx="1701801" cy="1214209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Login</a:t>
            </a:r>
            <a:endParaRPr lang="en-IN" sz="3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0E94F3-4481-BCB7-0C1F-68B301C96422}"/>
              </a:ext>
            </a:extLst>
          </p:cNvPr>
          <p:cNvSpPr/>
          <p:nvPr/>
        </p:nvSpPr>
        <p:spPr>
          <a:xfrm>
            <a:off x="3334058" y="7342653"/>
            <a:ext cx="226392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Admin</a:t>
            </a:r>
            <a:endParaRPr lang="en-IN" sz="4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8EE60B-DBE7-5FB9-8891-9F0F3E9128A4}"/>
              </a:ext>
            </a:extLst>
          </p:cNvPr>
          <p:cNvSpPr/>
          <p:nvPr/>
        </p:nvSpPr>
        <p:spPr>
          <a:xfrm>
            <a:off x="16980775" y="7299960"/>
            <a:ext cx="226392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Student</a:t>
            </a:r>
            <a:endParaRPr lang="en-IN" sz="40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AB0786-F27B-64A8-47E1-0D2093512200}"/>
              </a:ext>
            </a:extLst>
          </p:cNvPr>
          <p:cNvCxnSpPr>
            <a:cxnSpLocks/>
            <a:stCxn id="20" idx="3"/>
            <a:endCxn id="18" idx="2"/>
          </p:cNvCxnSpPr>
          <p:nvPr/>
        </p:nvCxnSpPr>
        <p:spPr>
          <a:xfrm>
            <a:off x="5597987" y="7665819"/>
            <a:ext cx="17018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1E870F-D341-ED07-BD36-203639428C8D}"/>
              </a:ext>
            </a:extLst>
          </p:cNvPr>
          <p:cNvCxnSpPr>
            <a:cxnSpLocks/>
            <a:stCxn id="21" idx="1"/>
            <a:endCxn id="19" idx="6"/>
          </p:cNvCxnSpPr>
          <p:nvPr/>
        </p:nvCxnSpPr>
        <p:spPr>
          <a:xfrm flipH="1" flipV="1">
            <a:off x="15663425" y="7615836"/>
            <a:ext cx="1317350" cy="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81AF6F-FCB1-2A17-B1D5-7EC5CFD8220C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9001589" y="5480345"/>
            <a:ext cx="1454148" cy="2185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D6D79C5-4C6A-D379-FC3F-0CAC1ECF528E}"/>
              </a:ext>
            </a:extLst>
          </p:cNvPr>
          <p:cNvCxnSpPr>
            <a:cxnSpLocks/>
            <a:stCxn id="18" idx="6"/>
            <a:endCxn id="9" idx="2"/>
          </p:cNvCxnSpPr>
          <p:nvPr/>
        </p:nvCxnSpPr>
        <p:spPr>
          <a:xfrm flipV="1">
            <a:off x="9001589" y="6692856"/>
            <a:ext cx="1484799" cy="972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1455F4-B62D-CA60-6A93-AC7FE94F5802}"/>
              </a:ext>
            </a:extLst>
          </p:cNvPr>
          <p:cNvCxnSpPr>
            <a:stCxn id="18" idx="6"/>
          </p:cNvCxnSpPr>
          <p:nvPr/>
        </p:nvCxnSpPr>
        <p:spPr>
          <a:xfrm>
            <a:off x="9001589" y="7665820"/>
            <a:ext cx="1454148" cy="360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89C3E47-6D50-20ED-E78B-EA1227F9D825}"/>
              </a:ext>
            </a:extLst>
          </p:cNvPr>
          <p:cNvCxnSpPr>
            <a:stCxn id="18" idx="6"/>
            <a:endCxn id="13" idx="1"/>
          </p:cNvCxnSpPr>
          <p:nvPr/>
        </p:nvCxnSpPr>
        <p:spPr>
          <a:xfrm>
            <a:off x="9001589" y="7665820"/>
            <a:ext cx="1862921" cy="1535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A8360FD-5699-1985-8767-E7F036F63F0D}"/>
              </a:ext>
            </a:extLst>
          </p:cNvPr>
          <p:cNvCxnSpPr>
            <a:cxnSpLocks/>
            <a:stCxn id="19" idx="2"/>
            <a:endCxn id="11" idx="6"/>
          </p:cNvCxnSpPr>
          <p:nvPr/>
        </p:nvCxnSpPr>
        <p:spPr>
          <a:xfrm flipH="1">
            <a:off x="12379960" y="7615836"/>
            <a:ext cx="1581664" cy="54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FAF3C33-A7CE-1E8A-1DCD-290B5B4803ED}"/>
              </a:ext>
            </a:extLst>
          </p:cNvPr>
          <p:cNvCxnSpPr>
            <a:stCxn id="19" idx="2"/>
            <a:endCxn id="13" idx="7"/>
          </p:cNvCxnSpPr>
          <p:nvPr/>
        </p:nvCxnSpPr>
        <p:spPr>
          <a:xfrm flipH="1">
            <a:off x="12119950" y="7615836"/>
            <a:ext cx="1841674" cy="1585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254D437-6123-7BD8-D9CD-D09723E93BA9}"/>
              </a:ext>
            </a:extLst>
          </p:cNvPr>
          <p:cNvSpPr txBox="1"/>
          <p:nvPr/>
        </p:nvSpPr>
        <p:spPr>
          <a:xfrm>
            <a:off x="8671034" y="2018115"/>
            <a:ext cx="1103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Request</a:t>
            </a:r>
            <a:endParaRPr lang="en-IN" sz="2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3217F0-AB72-4EAC-C89A-9DE49E95BD57}"/>
              </a:ext>
            </a:extLst>
          </p:cNvPr>
          <p:cNvSpPr txBox="1"/>
          <p:nvPr/>
        </p:nvSpPr>
        <p:spPr>
          <a:xfrm>
            <a:off x="12454537" y="1990683"/>
            <a:ext cx="2019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Request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18D8CDF-5DA0-FB27-7900-AF91579F2F9B}"/>
              </a:ext>
            </a:extLst>
          </p:cNvPr>
          <p:cNvSpPr txBox="1"/>
          <p:nvPr/>
        </p:nvSpPr>
        <p:spPr>
          <a:xfrm>
            <a:off x="8704100" y="2861482"/>
            <a:ext cx="1454147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BC710-D3EC-6A6B-2206-910F089F73C0}"/>
              </a:ext>
            </a:extLst>
          </p:cNvPr>
          <p:cNvSpPr txBox="1"/>
          <p:nvPr/>
        </p:nvSpPr>
        <p:spPr>
          <a:xfrm>
            <a:off x="12589449" y="2821636"/>
            <a:ext cx="1396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5BB18A-B2FA-7B7F-0A99-B87A26845C0B}"/>
              </a:ext>
            </a:extLst>
          </p:cNvPr>
          <p:cNvSpPr txBox="1"/>
          <p:nvPr/>
        </p:nvSpPr>
        <p:spPr>
          <a:xfrm>
            <a:off x="6069284" y="7029077"/>
            <a:ext cx="1245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Userid</a:t>
            </a:r>
            <a:r>
              <a:rPr lang="en-US" dirty="0"/>
              <a:t>,</a:t>
            </a:r>
          </a:p>
          <a:p>
            <a:r>
              <a:rPr lang="en-US" dirty="0"/>
              <a:t>password</a:t>
            </a:r>
            <a:endParaRPr lang="en-I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8A37B2-A76F-0426-0302-F7EF6321DAF7}"/>
              </a:ext>
            </a:extLst>
          </p:cNvPr>
          <p:cNvSpPr txBox="1"/>
          <p:nvPr/>
        </p:nvSpPr>
        <p:spPr>
          <a:xfrm>
            <a:off x="15806567" y="7000054"/>
            <a:ext cx="1317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Userid</a:t>
            </a:r>
            <a:r>
              <a:rPr lang="en-US" dirty="0"/>
              <a:t>,</a:t>
            </a:r>
          </a:p>
          <a:p>
            <a:r>
              <a:rPr lang="en-US" dirty="0"/>
              <a:t>password</a:t>
            </a:r>
            <a:endParaRPr lang="en-IN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0E34B0F-D0ED-49EF-6969-64292309D844}"/>
              </a:ext>
            </a:extLst>
          </p:cNvPr>
          <p:cNvCxnSpPr>
            <a:cxnSpLocks/>
          </p:cNvCxnSpPr>
          <p:nvPr/>
        </p:nvCxnSpPr>
        <p:spPr>
          <a:xfrm>
            <a:off x="1302231" y="5064880"/>
            <a:ext cx="27337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A636BA0-2219-87CC-2C9B-81E9118473C3}"/>
              </a:ext>
            </a:extLst>
          </p:cNvPr>
          <p:cNvCxnSpPr/>
          <p:nvPr/>
        </p:nvCxnSpPr>
        <p:spPr>
          <a:xfrm flipV="1">
            <a:off x="1302231" y="2334622"/>
            <a:ext cx="2922928" cy="34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C154A5-E40D-8D04-1C5F-CDD86F22674A}"/>
              </a:ext>
            </a:extLst>
          </p:cNvPr>
          <p:cNvCxnSpPr>
            <a:stCxn id="19" idx="2"/>
            <a:endCxn id="9" idx="6"/>
          </p:cNvCxnSpPr>
          <p:nvPr/>
        </p:nvCxnSpPr>
        <p:spPr>
          <a:xfrm flipH="1" flipV="1">
            <a:off x="12379960" y="6692856"/>
            <a:ext cx="1581664" cy="922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955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460D8B-3EA8-46AD-E224-288AABCEC020}"/>
              </a:ext>
            </a:extLst>
          </p:cNvPr>
          <p:cNvSpPr txBox="1"/>
          <p:nvPr/>
        </p:nvSpPr>
        <p:spPr>
          <a:xfrm>
            <a:off x="1765738" y="488731"/>
            <a:ext cx="13085379" cy="696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5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Complete Structure: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system structure includes: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 login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Student &amp; subject management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Marks entry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Automatic grade calculation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Result generation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Database operations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Shows flow from: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Login → Students → Subjects → Marks → Grade → Result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2D651-E8A3-7F1A-7CE1-30F9C04D376B}"/>
              </a:ext>
            </a:extLst>
          </p:cNvPr>
          <p:cNvSpPr txBox="1"/>
          <p:nvPr/>
        </p:nvSpPr>
        <p:spPr>
          <a:xfrm>
            <a:off x="1765738" y="5123793"/>
            <a:ext cx="13085379" cy="76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 Logical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5D56D-E46B-3FEA-E9E9-A0D707B7AE08}"/>
              </a:ext>
            </a:extLst>
          </p:cNvPr>
          <p:cNvSpPr txBox="1"/>
          <p:nvPr/>
        </p:nvSpPr>
        <p:spPr>
          <a:xfrm>
            <a:off x="1765738" y="7031421"/>
            <a:ext cx="13085379" cy="3348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5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Platform Used: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3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Hardware Requirements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Minimum 4GB RAM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 Processor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500MB free disk space</a:t>
            </a:r>
          </a:p>
        </p:txBody>
      </p:sp>
    </p:spTree>
    <p:extLst>
      <p:ext uri="{BB962C8B-B14F-4D97-AF65-F5344CB8AC3E}">
        <p14:creationId xmlns:p14="http://schemas.microsoft.com/office/powerpoint/2010/main" val="3223142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6C3403-DEC3-AA6C-FACE-53D490F71A74}"/>
              </a:ext>
            </a:extLst>
          </p:cNvPr>
          <p:cNvSpPr txBox="1"/>
          <p:nvPr/>
        </p:nvSpPr>
        <p:spPr>
          <a:xfrm>
            <a:off x="1615440" y="137160"/>
            <a:ext cx="11479530" cy="989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Software Requirements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</a:t>
            </a: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ava JDK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MySQL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JDBC Connector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Eclipse or IntelliJ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Maven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60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</a:t>
            </a:r>
            <a:r>
              <a:rPr lang="en-IN" sz="6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uture Scope: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 be upgraded to web or mobile application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Can include attendance and fees module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Can generate detailed performance reports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Can add multi-user roles (Admin, Teacher, HOD)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6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Bibliography 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Java Documentation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MySQL Documentation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Online Tutorials (Oracle, W3Schools)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Trainer Notes</a:t>
            </a:r>
          </a:p>
        </p:txBody>
      </p:sp>
    </p:spTree>
    <p:extLst>
      <p:ext uri="{BB962C8B-B14F-4D97-AF65-F5344CB8AC3E}">
        <p14:creationId xmlns:p14="http://schemas.microsoft.com/office/powerpoint/2010/main" val="1455198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726F2B-EBF8-4972-7D57-56E968EE4D8E}"/>
              </a:ext>
            </a:extLst>
          </p:cNvPr>
          <p:cNvSpPr txBox="1"/>
          <p:nvPr/>
        </p:nvSpPr>
        <p:spPr>
          <a:xfrm>
            <a:off x="4008120" y="3596640"/>
            <a:ext cx="121310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Arial Black" panose="020B0A04020102020204" pitchFamily="34" charset="0"/>
              </a:rPr>
              <a:t>Thank you</a:t>
            </a:r>
            <a:endParaRPr lang="en-IN" sz="9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751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645</TotalTime>
  <Words>872</Words>
  <Application>Microsoft Office PowerPoint</Application>
  <PresentationFormat>Custom</PresentationFormat>
  <Paragraphs>291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Arial Black</vt:lpstr>
      <vt:lpstr>Arial Rounded MT Bold</vt:lpstr>
      <vt:lpstr>Calibri</vt:lpstr>
      <vt:lpstr>Calibri Light</vt:lpstr>
      <vt:lpstr>Wingdings</vt:lpstr>
      <vt:lpstr>Office Theme</vt:lpstr>
      <vt:lpstr>Project Proposal On Student Grading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 On Student Grading System</dc:title>
  <dc:creator>Shashi Maddheshiya</dc:creator>
  <cp:lastModifiedBy>Shashi Maddheshiya</cp:lastModifiedBy>
  <cp:revision>16</cp:revision>
  <dcterms:created xsi:type="dcterms:W3CDTF">2025-11-27T15:38:49Z</dcterms:created>
  <dcterms:modified xsi:type="dcterms:W3CDTF">2025-11-28T10:47:54Z</dcterms:modified>
</cp:coreProperties>
</file>